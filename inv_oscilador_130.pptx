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62" r:id="rId3"/>
    <p:sldId id="283" r:id="rId4"/>
    <p:sldId id="267" r:id="rId5"/>
    <p:sldId id="268" r:id="rId6"/>
    <p:sldId id="269" r:id="rId7"/>
    <p:sldId id="277" r:id="rId8"/>
    <p:sldId id="273" r:id="rId9"/>
    <p:sldId id="274" r:id="rId10"/>
    <p:sldId id="271" r:id="rId11"/>
    <p:sldId id="278" r:id="rId12"/>
    <p:sldId id="275" r:id="rId13"/>
    <p:sldId id="279" r:id="rId14"/>
    <p:sldId id="280" r:id="rId15"/>
    <p:sldId id="281" r:id="rId16"/>
    <p:sldId id="282" r:id="rId17"/>
    <p:sldId id="265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2948">
          <p15:clr>
            <a:srgbClr val="747775"/>
          </p15:clr>
        </p15:guide>
        <p15:guide id="4" pos="3044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6eIua8SvWT3YbEfzO8yQm0iU1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97EBEF-DF63-4492-B795-B929F2F9DE0D}">
  <a:tblStyle styleId="{6597EBEF-DF63-4492-B795-B929F2F9DE0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14" y="67"/>
      </p:cViewPr>
      <p:guideLst>
        <p:guide orient="horz" pos="1620"/>
        <p:guide pos="2880"/>
        <p:guide pos="2948"/>
        <p:guide pos="30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11430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5D6879"/>
              </a:solidFill>
              <a:highlight>
                <a:srgbClr val="F0F0F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5D6879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5345C7C-7706-C212-8D4B-41FA4C69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BED3E006-20E8-95A3-1467-7FFBC29BD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278CAAF7-15FD-7A59-04E7-1CE15E3BC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9429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48C51F60-B593-B296-0946-BB08FFA18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E139DE96-FE42-0EE8-2273-765C40162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343A461D-2E30-B88F-9C69-BD277039CC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9553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012ED3C-373B-A4B3-776B-C4315966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05D37582-DFE5-1432-F24D-5F7273C2E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D5F544CC-213C-0955-16FC-6CBE37D6A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3726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F7DAFEB-FD9B-E9E2-9742-491ADCA5D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7833E0C5-3AB8-D3AE-22B6-C3BE44CC3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A2F196F5-1F88-DB0E-86A5-A50F3AF42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6460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6EE67D5-8105-1965-BC2D-4A89262C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8B7C5F09-0793-A492-FD00-4F8188E7E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57F248C8-F239-DFA2-A730-1878E3B19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5599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F91FE94-030E-16A8-4221-00264ECEF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5E786489-6C39-B774-68CF-CB007F3794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CE96C24B-7007-A0FB-D9B7-F3E475AA8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337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0404766B-DBAC-FCAC-3D4B-66ED9DD9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A618903F-92EF-7557-5BD1-20021DBBE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7E131195-7D55-D155-8FAF-5DB87F4A2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2153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D264B8D-0B8E-27D6-4000-6923E8C7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256985D9-BA88-4DE7-20D1-EFB5AD99BD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BBA03921-9837-F7BE-6507-2CBB6A732A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799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B4984E1F-9D59-4A51-DECE-11654EC12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5D8C9DDF-A197-C1A4-73B5-526A5C755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8F37E5D7-44D8-EE9D-5701-45D0B23C58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2623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FEE9791C-4588-21C7-9A9F-E777667B2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2F18EC8F-F892-A56F-C43F-DA81D22D82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5A81FB7D-93DF-AAC8-0672-CF3FBF079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0101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066C803-0FB3-B02C-37A6-61523E9AD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8E83E265-E2EC-C7AC-3836-6A10E5F00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541132FE-2426-B1CA-8537-E3FD6F034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870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60318821-244E-64B0-DC91-EB2F42423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2467ED0D-E800-90BE-B552-DF5A6928D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7ABB9483-38DF-895B-EB81-185C96DD6F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0741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2729E8B5-026E-8C74-7690-8FB9E3F4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F867BC08-9EB5-BE76-0ECB-A9C7F9AFB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CFC76E9C-28F4-0232-82EB-3AD7D4D17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7655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ED679CF6-9C49-AD09-1FAF-5D2331C5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5b9ebcfc7_0_0:notes">
            <a:extLst>
              <a:ext uri="{FF2B5EF4-FFF2-40B4-BE49-F238E27FC236}">
                <a16:creationId xmlns:a16="http://schemas.microsoft.com/office/drawing/2014/main" id="{A3D2F42B-7DCE-BA14-ABCB-535016906D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a5b9ebcfc7_0_0:notes">
            <a:extLst>
              <a:ext uri="{FF2B5EF4-FFF2-40B4-BE49-F238E27FC236}">
                <a16:creationId xmlns:a16="http://schemas.microsoft.com/office/drawing/2014/main" id="{05566896-5A14-BE84-268E-D94DA2DCB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25794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888000" y="222575"/>
            <a:ext cx="7584000" cy="15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s-419" sz="3200" dirty="0">
                <a:latin typeface="Times New Roman"/>
                <a:ea typeface="Times New Roman"/>
                <a:cs typeface="Times New Roman"/>
                <a:sym typeface="Times New Roman"/>
              </a:rPr>
              <a:t>Inversor &amp; oscilador 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780000" y="1846750"/>
            <a:ext cx="75840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-419" sz="1800" b="1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AUTORES</a:t>
            </a:r>
            <a:endParaRPr sz="1800" dirty="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-419" sz="1800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Luengas Gerena Juan Pablo – 2215669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-419" sz="1800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Velasco </a:t>
            </a:r>
            <a:r>
              <a:rPr lang="es-419" sz="1800" dirty="0" err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Alvarez</a:t>
            </a:r>
            <a:r>
              <a:rPr lang="es-419" sz="1800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419" sz="1800" dirty="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Nicolas</a:t>
            </a:r>
            <a:r>
              <a:rPr lang="es-419" sz="1800" dirty="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-2215668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s-419" sz="1800" dirty="0">
                <a:latin typeface="Times New Roman"/>
                <a:ea typeface="Times New Roman"/>
                <a:cs typeface="Times New Roman"/>
                <a:sym typeface="Times New Roman"/>
              </a:rPr>
              <a:t> Universidad Industrial de Santander, Bucaramanga - Colombia 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endParaRPr sz="196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960" dirty="0"/>
          </a:p>
        </p:txBody>
      </p:sp>
      <p:sp>
        <p:nvSpPr>
          <p:cNvPr id="56" name="Google Shape;5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3169" y="3826289"/>
            <a:ext cx="1218261" cy="10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l="5825" t="11949" r="4407" b="6510"/>
          <a:stretch/>
        </p:blipFill>
        <p:spPr>
          <a:xfrm>
            <a:off x="888008" y="3826263"/>
            <a:ext cx="2087286" cy="106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/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2</a:t>
            </a:fld>
            <a:endParaRPr/>
          </a:p>
        </p:txBody>
      </p:sp>
      <p:sp>
        <p:nvSpPr>
          <p:cNvPr id="117" name="Google Shape;117;g3a5b9ebcfc7_0_0"/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PDK </a:t>
            </a:r>
            <a:endParaRPr lang="es-MX"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a5b9ebcfc7_0_0"/>
          <p:cNvSpPr txBox="1"/>
          <p:nvPr/>
        </p:nvSpPr>
        <p:spPr>
          <a:xfrm>
            <a:off x="246425" y="808725"/>
            <a:ext cx="8520600" cy="72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Se uso los </a:t>
            </a:r>
            <a:r>
              <a:rPr lang="es-MX" sz="13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mosfets</a:t>
            </a:r>
            <a:r>
              <a:rPr lang="es-MX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 LOW-voltaje con un </a:t>
            </a:r>
            <a:r>
              <a:rPr lang="es-MX" sz="1300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vdd</a:t>
            </a:r>
            <a:r>
              <a:rPr lang="es-MX" sz="13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típico de 1.5V</a:t>
            </a:r>
            <a:endParaRPr sz="13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F63309-C401-3079-3F16-879FA2EC6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348" y="1598072"/>
            <a:ext cx="4879395" cy="357974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89B863D-2767-A406-402F-FECED8CFC767}"/>
              </a:ext>
            </a:extLst>
          </p:cNvPr>
          <p:cNvSpPr/>
          <p:nvPr/>
        </p:nvSpPr>
        <p:spPr>
          <a:xfrm>
            <a:off x="2254539" y="1901687"/>
            <a:ext cx="4523948" cy="8150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4EE2905-4CE2-608D-F841-5EF44C66B0F5}"/>
              </a:ext>
            </a:extLst>
          </p:cNvPr>
          <p:cNvCxnSpPr>
            <a:cxnSpLocks/>
          </p:cNvCxnSpPr>
          <p:nvPr/>
        </p:nvCxnSpPr>
        <p:spPr>
          <a:xfrm>
            <a:off x="960783" y="2325757"/>
            <a:ext cx="118773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3595F32-092A-52D6-DBD3-93252326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2A249098-11E6-4496-DB0C-F657D31BD365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08C270EA-F855-6D43-2B00-B350876860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3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6ED20E80-1CFE-E5BE-4FD6-E06E04857067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INVERSOR</a:t>
            </a:r>
            <a:endParaRPr lang="es-MX"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18BC0E6E-1A83-B8F0-E4C6-268BB1B41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Google Shape;119;g3a5b9ebcfc7_0_0">
                <a:extLst>
                  <a:ext uri="{FF2B5EF4-FFF2-40B4-BE49-F238E27FC236}">
                    <a16:creationId xmlns:a16="http://schemas.microsoft.com/office/drawing/2014/main" id="{75E77644-6905-3BEB-59B1-8382F50244AE}"/>
                  </a:ext>
                </a:extLst>
              </p:cNvPr>
              <p:cNvSpPr txBox="1"/>
              <p:nvPr/>
            </p:nvSpPr>
            <p:spPr>
              <a:xfrm>
                <a:off x="246425" y="808725"/>
                <a:ext cx="8520600" cy="946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lvl="0" algn="just">
                  <a:lnSpc>
                    <a:spcPct val="115000"/>
                  </a:lnSpc>
                  <a:spcBef>
                    <a:spcPts val="1200"/>
                  </a:spcBef>
                  <a:spcAft>
                    <a:spcPts val="1200"/>
                  </a:spcAft>
                  <a:buClr>
                    <a:schemeClr val="dk1"/>
                  </a:buClr>
                  <a:buSzPts val="1100"/>
                </a:pPr>
                <a:r>
                  <a:rPr lang="es-MX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 conservaron exactamente las mismas dimensiones que se utilizaban en el PDK de 180 nm. Para los transistores NMOS se empleó un ancho de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s-MX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MX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MX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 dos m , mientras que para los transistores PMOS se utilizó un ancho de </a:t>
                </a:r>
                <a14:m>
                  <m:oMath xmlns:m="http://schemas.openxmlformats.org/officeDocument/2006/math">
                    <m:r>
                      <a:rPr lang="es-MX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es-MX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MX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MX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también con dos m.</a:t>
                </a:r>
                <a:endParaRPr sz="1300" dirty="0">
                  <a:solidFill>
                    <a:schemeClr val="dk1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endParaRPr>
              </a:p>
            </p:txBody>
          </p:sp>
        </mc:Choice>
        <mc:Fallback>
          <p:sp>
            <p:nvSpPr>
              <p:cNvPr id="119" name="Google Shape;119;g3a5b9ebcfc7_0_0">
                <a:extLst>
                  <a:ext uri="{FF2B5EF4-FFF2-40B4-BE49-F238E27FC236}">
                    <a16:creationId xmlns:a16="http://schemas.microsoft.com/office/drawing/2014/main" id="{75E77644-6905-3BEB-59B1-8382F5024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25" y="808725"/>
                <a:ext cx="8520600" cy="946832"/>
              </a:xfrm>
              <a:prstGeom prst="rect">
                <a:avLst/>
              </a:prstGeom>
              <a:blipFill>
                <a:blip r:embed="rId4"/>
                <a:stretch>
                  <a:fillRect r="-7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7C83498A-8237-1D4A-E856-4983252599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9372" y="2044418"/>
            <a:ext cx="2130159" cy="269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3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E875B65-E744-FD31-BA11-2329067EB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3FC33195-D277-378F-7336-9E9CC7727E81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AFD28D5D-016B-0149-1C05-BB490FC4AB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4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1B0EDD24-5FA8-8A35-7A69-F0CFA478238F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INVERSOR</a:t>
            </a:r>
            <a:endParaRPr lang="es-MX"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4CCDD74A-D7F0-D895-DF51-51CF819352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a5b9ebcfc7_0_0">
            <a:extLst>
              <a:ext uri="{FF2B5EF4-FFF2-40B4-BE49-F238E27FC236}">
                <a16:creationId xmlns:a16="http://schemas.microsoft.com/office/drawing/2014/main" id="{00D2ADE9-244C-0D73-4168-82CFC533C7CD}"/>
              </a:ext>
            </a:extLst>
          </p:cNvPr>
          <p:cNvSpPr txBox="1"/>
          <p:nvPr/>
        </p:nvSpPr>
        <p:spPr>
          <a:xfrm>
            <a:off x="311700" y="770241"/>
            <a:ext cx="8520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realizar la prueba del inversor se empleó el banco de pruebas mostrado en la figura. Con esta configuración se midieron dos parámetros el tiempo de subida (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rise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time) y el tiempo de bajada (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time) y el voltaje de inversión con una frecuencia de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3CA56BA-BFD6-A546-AEAC-3FFCF268A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30" y="1458131"/>
            <a:ext cx="7858539" cy="291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72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7388EDC-0F92-95D8-51B5-3DB4EEEB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5D8D02FE-6361-6DC2-9618-2EFED2FD3BF5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7A3A7DE5-C419-1A02-824A-C12102F7E6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5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E139CE6C-7B20-BF56-0930-9BA5547972CE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INVERSOR</a:t>
            </a:r>
            <a:endParaRPr lang="es-MX"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43732FA3-13B4-881C-8BFC-E0BEA454EC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9;g3a5b9ebcfc7_0_0">
            <a:extLst>
              <a:ext uri="{FF2B5EF4-FFF2-40B4-BE49-F238E27FC236}">
                <a16:creationId xmlns:a16="http://schemas.microsoft.com/office/drawing/2014/main" id="{84BF02EB-9B61-7F93-1644-3A764CA9B9B1}"/>
              </a:ext>
            </a:extLst>
          </p:cNvPr>
          <p:cNvSpPr txBox="1"/>
          <p:nvPr/>
        </p:nvSpPr>
        <p:spPr>
          <a:xfrm>
            <a:off x="311700" y="770241"/>
            <a:ext cx="88323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obtuvo un tiempo de subida (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rise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time) de 3.96×10⁻¹¹ s y un tiempo de bajada (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fall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time) de 2.01×10⁻¹¹ s, junto con un voltaje de inversión de 0.68V. Idealmente, los tiempos de subida y bajada deberían ser similares, y el voltaje de inversión debería ubicarse en VDD/2.</a:t>
            </a:r>
            <a:b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un valor de VDD = 1.5 V, el voltaje de inversión ideal sería 0.75 V.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2A9B90-9C6C-0A72-AAB0-C9D2F64AD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557" y="1582366"/>
            <a:ext cx="4734586" cy="3343742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18DF459-51A2-A3BC-372A-9C3A5BB980AA}"/>
              </a:ext>
            </a:extLst>
          </p:cNvPr>
          <p:cNvSpPr/>
          <p:nvPr/>
        </p:nvSpPr>
        <p:spPr>
          <a:xfrm>
            <a:off x="2360557" y="3110237"/>
            <a:ext cx="1292087" cy="28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9F022D5-5233-BC7D-1DBB-E748C62C9358}"/>
              </a:ext>
            </a:extLst>
          </p:cNvPr>
          <p:cNvSpPr/>
          <p:nvPr/>
        </p:nvSpPr>
        <p:spPr>
          <a:xfrm>
            <a:off x="2360557" y="4452730"/>
            <a:ext cx="2324086" cy="2104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850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060D0CA1-8174-71AE-26DA-F20F8ACAA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6318BDC2-663C-A9A9-9CC4-68B4BC46B03A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72074F4C-9673-8A9C-2818-08CE92F44C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206064" y="500777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6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E05AD6E9-3F2E-1D6D-F5AF-7618CA5DF734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INVERSOR</a:t>
            </a:r>
            <a:endParaRPr lang="es-MX"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DD7D93A9-0FA2-8CC6-9E47-644C5B49FD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9;g3a5b9ebcfc7_0_0">
            <a:extLst>
              <a:ext uri="{FF2B5EF4-FFF2-40B4-BE49-F238E27FC236}">
                <a16:creationId xmlns:a16="http://schemas.microsoft.com/office/drawing/2014/main" id="{BFA8EDEB-C3DF-2730-2D00-C6C30F7104D3}"/>
              </a:ext>
            </a:extLst>
          </p:cNvPr>
          <p:cNvSpPr txBox="1"/>
          <p:nvPr/>
        </p:nvSpPr>
        <p:spPr>
          <a:xfrm>
            <a:off x="311700" y="681448"/>
            <a:ext cx="8684673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modificaron las dimensiones de los transistores NMOS y PMOS, ajustando la longitud de canal a L = 0.35 µm para ambos dispositivos.</a:t>
            </a:r>
            <a:b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el PMOS se utilizó un ancho W = 6 µm con dos multiplicadores (m = 2), mientras que para el NMOS se empleó W = 1 µm, también con dos multiplicadores (m = 2).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FD5503-F819-382C-5962-D323906F1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723" y="1756833"/>
            <a:ext cx="4248041" cy="3004712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DAB8EA8-CCB6-E1CA-7495-663BBEF481E5}"/>
              </a:ext>
            </a:extLst>
          </p:cNvPr>
          <p:cNvSpPr/>
          <p:nvPr/>
        </p:nvSpPr>
        <p:spPr>
          <a:xfrm>
            <a:off x="4506723" y="3101937"/>
            <a:ext cx="1292087" cy="28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7B29571-3724-9589-20EA-885CB5CEB188}"/>
              </a:ext>
            </a:extLst>
          </p:cNvPr>
          <p:cNvSpPr/>
          <p:nvPr/>
        </p:nvSpPr>
        <p:spPr>
          <a:xfrm>
            <a:off x="4506723" y="4359966"/>
            <a:ext cx="2011996" cy="163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31462E-AB1E-985C-42C2-A6DB725CD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799" y="1488018"/>
            <a:ext cx="2484904" cy="337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9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FFB5BD2-5BF6-2978-D7AE-D9DDC3F9B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6369598E-16BB-668C-DCD1-588EF1070718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00A62863-7A1F-1B45-2681-99D4752AD9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7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B9FF6755-CD73-312B-3A14-BEBEC255F60D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INVERSOR</a:t>
            </a:r>
            <a:endParaRPr lang="es-MX"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1DF09EB6-4659-34BB-1519-50C4E5CFA8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67BED70-991C-B512-ABD3-DA0D4CE97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73" y="1138435"/>
            <a:ext cx="3863409" cy="323201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A160890-C834-E9D0-F2E4-4C148338FE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139" y="1138435"/>
            <a:ext cx="3898565" cy="328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19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0D5E42A-3428-7309-ABAC-917C3E8E4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14EDD5BB-310F-38A4-BDDA-C5853308854B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5DB1EC57-176F-B699-496B-AC6A9A86E0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8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E7E80A62-B9B3-B1DD-FF1F-0B4BD2451D04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F1384614-522E-C0E3-6A7C-3B3E337B0D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a5b9ebcfc7_0_0">
            <a:extLst>
              <a:ext uri="{FF2B5EF4-FFF2-40B4-BE49-F238E27FC236}">
                <a16:creationId xmlns:a16="http://schemas.microsoft.com/office/drawing/2014/main" id="{86B0729E-4307-00F5-E5AF-5262D09442B1}"/>
              </a:ext>
            </a:extLst>
          </p:cNvPr>
          <p:cNvSpPr txBox="1"/>
          <p:nvPr/>
        </p:nvSpPr>
        <p:spPr>
          <a:xfrm>
            <a:off x="246425" y="808725"/>
            <a:ext cx="8520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valores de los transistores NMOS y PMOS empleados en el diseño del inversor se utilizaron igualmente para implementar la compuerta XOR.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5341E57-3E02-9B9A-A0C0-D11F6EC5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053" y="1564741"/>
            <a:ext cx="4050906" cy="265871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19F1F5C-FC8A-8EFC-B0F2-9F4C3A871D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55"/>
          <a:stretch>
            <a:fillRect/>
          </a:stretch>
        </p:blipFill>
        <p:spPr>
          <a:xfrm>
            <a:off x="4434589" y="1372584"/>
            <a:ext cx="4462986" cy="304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5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3414DD9-44C2-01A7-0CFC-5B5F6ADBD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554E1493-DC3F-6AE7-76EC-4D2646B1798A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2565B02C-A91E-9FB6-BBD5-82DA594E08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9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4E639959-12C8-175C-9CF6-05E130F6180F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XOR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F9D36996-7579-FE2C-590E-6E1BD7B8C3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31CDE1E-2BBC-E8AF-7A1F-1A5CCA7FB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371" y="785361"/>
            <a:ext cx="3164918" cy="4132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39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C71702C-3AAF-AE82-82A4-BA639BB6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DD009093-1695-1153-F548-22621E4A104E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36B85900-66F9-05A6-E87C-1053583642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10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CC685330-E5A8-C461-694C-2697CA9590A5}"/>
              </a:ext>
            </a:extLst>
          </p:cNvPr>
          <p:cNvSpPr txBox="1"/>
          <p:nvPr/>
        </p:nvSpPr>
        <p:spPr>
          <a:xfrm>
            <a:off x="246423" y="-12435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INV OSCILADOR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0F4116E8-CBDE-937C-B2D8-664AA1C0DC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a5b9ebcfc7_0_0">
            <a:extLst>
              <a:ext uri="{FF2B5EF4-FFF2-40B4-BE49-F238E27FC236}">
                <a16:creationId xmlns:a16="http://schemas.microsoft.com/office/drawing/2014/main" id="{4FA41390-8DBA-778D-1145-8EAC2CD36A44}"/>
              </a:ext>
            </a:extLst>
          </p:cNvPr>
          <p:cNvSpPr txBox="1"/>
          <p:nvPr/>
        </p:nvSpPr>
        <p:spPr>
          <a:xfrm>
            <a:off x="226208" y="558779"/>
            <a:ext cx="8520600" cy="987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 valores de los transistores NMOS y PMOS empleados en el diseño del inversor se utilizaron igualmente para implementar  este circuito </a:t>
            </a:r>
            <a:endParaRPr sz="1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41B5E81-F715-2732-AF0E-C9A73C452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165" y="1340347"/>
            <a:ext cx="2546626" cy="38031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0E573C7-2DC2-6DD5-DEAB-46EA9C396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81" y="1781099"/>
            <a:ext cx="3626827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89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4827C7BE-A2BF-32A8-C3C7-0DC5AAE3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C7CDBC46-23DE-22A5-C84F-46776A77C751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91828867-E288-EC0F-34B5-A13DEAA407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11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500C44C1-A42E-A4D6-B8B6-7F4E9EE03E17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 OSCILADOR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0AA22DDC-7142-D4D2-9E0A-864DF09567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9;g3a5b9ebcfc7_0_0">
            <a:extLst>
              <a:ext uri="{FF2B5EF4-FFF2-40B4-BE49-F238E27FC236}">
                <a16:creationId xmlns:a16="http://schemas.microsoft.com/office/drawing/2014/main" id="{D215D476-FF10-9D47-A0D6-34F14D5EC7A7}"/>
              </a:ext>
            </a:extLst>
          </p:cNvPr>
          <p:cNvSpPr txBox="1"/>
          <p:nvPr/>
        </p:nvSpPr>
        <p:spPr>
          <a:xfrm>
            <a:off x="93104" y="558779"/>
            <a:ext cx="8520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implementó un oscilador de cinco etapas utilizando compuertas XOR como elemento de carga. En esta etapa se realizó un barrido del parámetro 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vcontrol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el fin de analizar cómo varía la frecuencia de oscilación en función de dicho voltaje.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F71957C-8CE9-BC8F-8E19-721CF7B20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291079"/>
            <a:ext cx="8083408" cy="371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05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5656CE6-84A3-DB09-C7B7-751A58AA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F1A2EEA5-F1DC-A195-E0F9-177DCBBC969A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9C2DD5AE-462E-051A-601D-4CF1892763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12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D6355ECC-9218-0821-DE8A-0BF5249CB8D0}"/>
              </a:ext>
            </a:extLst>
          </p:cNvPr>
          <p:cNvSpPr txBox="1"/>
          <p:nvPr/>
        </p:nvSpPr>
        <p:spPr>
          <a:xfrm>
            <a:off x="311700" y="-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 OSCILADOR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E02C9537-0327-F679-973B-D462CA0E06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4427CC-0297-E3D3-F2FB-41BFACC12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650" y="1377490"/>
            <a:ext cx="4443204" cy="3588544"/>
          </a:xfrm>
          <a:prstGeom prst="rect">
            <a:avLst/>
          </a:prstGeom>
        </p:spPr>
      </p:pic>
      <p:sp>
        <p:nvSpPr>
          <p:cNvPr id="9" name="Google Shape;119;g3a5b9ebcfc7_0_0">
            <a:extLst>
              <a:ext uri="{FF2B5EF4-FFF2-40B4-BE49-F238E27FC236}">
                <a16:creationId xmlns:a16="http://schemas.microsoft.com/office/drawing/2014/main" id="{F54E297E-63E0-A5C3-82FD-62A57291D964}"/>
              </a:ext>
            </a:extLst>
          </p:cNvPr>
          <p:cNvSpPr txBox="1"/>
          <p:nvPr/>
        </p:nvSpPr>
        <p:spPr>
          <a:xfrm>
            <a:off x="93104" y="558779"/>
            <a:ext cx="8520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 realizar el barrido de 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vcontrol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 obtuvo la curva característica de frecuencia vs. 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vcontrol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 partir de esta gráfica se observó que, cuando 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vcontrol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alcanza un valor igual a VDD, la frecuencia de oscilación es aproximadamente 220 MHz.</a:t>
            </a:r>
          </a:p>
        </p:txBody>
      </p:sp>
    </p:spTree>
    <p:extLst>
      <p:ext uri="{BB962C8B-B14F-4D97-AF65-F5344CB8AC3E}">
        <p14:creationId xmlns:p14="http://schemas.microsoft.com/office/powerpoint/2010/main" val="2397717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C17D81D-B54C-5A24-3992-33AAF71D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68379F9C-1E32-585A-5915-6747D081BDB9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DCAE5F77-8A05-611E-3704-61E35415C4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13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06855CD1-B80C-BDBA-D1BA-4804C03BB91B}"/>
              </a:ext>
            </a:extLst>
          </p:cNvPr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Detector de fase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FB035D11-AC4A-0F90-B0A1-1A3B21A4EA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0C47A56-4EAA-6806-00F5-7C016AD95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57" y="2226879"/>
            <a:ext cx="2651639" cy="207335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E89D387-E029-4B06-4D84-9A3E8315E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881" y="1864578"/>
            <a:ext cx="6280373" cy="2713187"/>
          </a:xfrm>
          <a:prstGeom prst="rect">
            <a:avLst/>
          </a:prstGeom>
        </p:spPr>
      </p:pic>
      <p:sp>
        <p:nvSpPr>
          <p:cNvPr id="7" name="Google Shape;119;g3a5b9ebcfc7_0_0">
            <a:extLst>
              <a:ext uri="{FF2B5EF4-FFF2-40B4-BE49-F238E27FC236}">
                <a16:creationId xmlns:a16="http://schemas.microsoft.com/office/drawing/2014/main" id="{0B9F7DE9-1278-9FC5-7417-75038154BCEB}"/>
              </a:ext>
            </a:extLst>
          </p:cNvPr>
          <p:cNvSpPr txBox="1"/>
          <p:nvPr/>
        </p:nvSpPr>
        <p:spPr>
          <a:xfrm>
            <a:off x="324654" y="861982"/>
            <a:ext cx="8520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este bloque se replicó la topología utilizada en el diseño de la 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Chipathon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empleando la compuerta XOR previamente implementada.</a:t>
            </a:r>
          </a:p>
        </p:txBody>
      </p:sp>
    </p:spTree>
    <p:extLst>
      <p:ext uri="{BB962C8B-B14F-4D97-AF65-F5344CB8AC3E}">
        <p14:creationId xmlns:p14="http://schemas.microsoft.com/office/powerpoint/2010/main" val="92675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E400454E-DA46-961D-0E03-7813439EE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70BE0040-301D-3F3C-796D-62C923238BCF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A287B524-744E-DC65-D0A8-CF457A4B24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14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5FF0E485-A29D-571E-BBDD-F4F78906E3FD}"/>
              </a:ext>
            </a:extLst>
          </p:cNvPr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Test detector de fase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E8136762-3AC9-98C0-2FAC-C5D7D332CB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9;g3a5b9ebcfc7_0_0">
            <a:extLst>
              <a:ext uri="{FF2B5EF4-FFF2-40B4-BE49-F238E27FC236}">
                <a16:creationId xmlns:a16="http://schemas.microsoft.com/office/drawing/2014/main" id="{6EB73817-D59F-6083-5F41-FB06E007C932}"/>
              </a:ext>
            </a:extLst>
          </p:cNvPr>
          <p:cNvSpPr txBox="1"/>
          <p:nvPr/>
        </p:nvSpPr>
        <p:spPr>
          <a:xfrm>
            <a:off x="324654" y="861982"/>
            <a:ext cx="8520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este bloque se replicó la topología utilizada en el diseño de la </a:t>
            </a:r>
            <a:r>
              <a:rPr lang="es-MX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Chipathon</a:t>
            </a:r>
            <a:r>
              <a:rPr lang="es-MX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empleando la compuerta XOR previamente implementada.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C07B22E-1B65-602F-C882-A14F2EF07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954" y="1689386"/>
            <a:ext cx="4343593" cy="33674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CFAC10D-15D4-44C7-B039-06EB97C51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61" y="1644708"/>
            <a:ext cx="4111437" cy="321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95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C4227EE-3E23-4C1A-94D1-B9D7AD58E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72D4C623-095A-E1C3-E863-C8EAAB0174D9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35CF3287-E30D-6550-78AF-91DCDDCBBA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15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554C6BDE-85E2-50CA-D224-1CA3A32BBB66}"/>
              </a:ext>
            </a:extLst>
          </p:cNvPr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INTEGRADOR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235F6066-F4D2-6D0E-0E63-9E8A709527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9;g3a5b9ebcfc7_0_0">
            <a:extLst>
              <a:ext uri="{FF2B5EF4-FFF2-40B4-BE49-F238E27FC236}">
                <a16:creationId xmlns:a16="http://schemas.microsoft.com/office/drawing/2014/main" id="{8BC24F5C-F787-07FC-EC32-D391119E530D}"/>
              </a:ext>
            </a:extLst>
          </p:cNvPr>
          <p:cNvSpPr txBox="1"/>
          <p:nvPr/>
        </p:nvSpPr>
        <p:spPr>
          <a:xfrm>
            <a:off x="324654" y="861982"/>
            <a:ext cx="8520600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/>
              <a:t>Haciendo uso de los bloques diseñados previamente, se implementó el integrador.</a:t>
            </a:r>
            <a:endParaRPr lang="es-MX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B78C18-C23F-5676-729C-77222B9FF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1901" y="1660375"/>
            <a:ext cx="6274904" cy="30028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2073BB8-560D-32DC-EB1B-FB5A72D72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65577"/>
            <a:ext cx="2888889" cy="195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4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735EFB1-BAAD-81A8-BC80-F1E46615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a5b9ebcfc7_0_0">
            <a:extLst>
              <a:ext uri="{FF2B5EF4-FFF2-40B4-BE49-F238E27FC236}">
                <a16:creationId xmlns:a16="http://schemas.microsoft.com/office/drawing/2014/main" id="{39F3A6D8-DDC9-07D7-CE1C-A6664F17AC4A}"/>
              </a:ext>
            </a:extLst>
          </p:cNvPr>
          <p:cNvCxnSpPr/>
          <p:nvPr/>
        </p:nvCxnSpPr>
        <p:spPr>
          <a:xfrm>
            <a:off x="475773" y="565735"/>
            <a:ext cx="80619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g3a5b9ebcfc7_0_0">
            <a:extLst>
              <a:ext uri="{FF2B5EF4-FFF2-40B4-BE49-F238E27FC236}">
                <a16:creationId xmlns:a16="http://schemas.microsoft.com/office/drawing/2014/main" id="{ADF222D0-1726-AC99-59E0-4A680C96CF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16</a:t>
            </a:fld>
            <a:endParaRPr/>
          </a:p>
        </p:txBody>
      </p:sp>
      <p:sp>
        <p:nvSpPr>
          <p:cNvPr id="117" name="Google Shape;117;g3a5b9ebcfc7_0_0">
            <a:extLst>
              <a:ext uri="{FF2B5EF4-FFF2-40B4-BE49-F238E27FC236}">
                <a16:creationId xmlns:a16="http://schemas.microsoft.com/office/drawing/2014/main" id="{2359CE20-8A02-A43C-886B-291AE9BE90AE}"/>
              </a:ext>
            </a:extLst>
          </p:cNvPr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MX" sz="2450" b="1" dirty="0">
                <a:solidFill>
                  <a:srgbClr val="23334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INTEGRADOR</a:t>
            </a:r>
            <a:endParaRPr sz="2450" b="1" i="0" u="none" strike="noStrike" cap="none" dirty="0">
              <a:solidFill>
                <a:srgbClr val="23334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g3a5b9ebcfc7_0_0">
            <a:extLst>
              <a:ext uri="{FF2B5EF4-FFF2-40B4-BE49-F238E27FC236}">
                <a16:creationId xmlns:a16="http://schemas.microsoft.com/office/drawing/2014/main" id="{B20B386C-917A-A5AC-6D84-5C6314B348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13704" y="52398"/>
            <a:ext cx="463101" cy="2192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9;g3a5b9ebcfc7_0_0">
            <a:extLst>
              <a:ext uri="{FF2B5EF4-FFF2-40B4-BE49-F238E27FC236}">
                <a16:creationId xmlns:a16="http://schemas.microsoft.com/office/drawing/2014/main" id="{605359A8-11E7-1CDA-DC00-658CEC9A9899}"/>
              </a:ext>
            </a:extLst>
          </p:cNvPr>
          <p:cNvSpPr txBox="1"/>
          <p:nvPr/>
        </p:nvSpPr>
        <p:spPr>
          <a:xfrm>
            <a:off x="324654" y="861982"/>
            <a:ext cx="8520600" cy="704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s-MX" sz="1200" dirty="0"/>
              <a:t>Haciendo uso de los bloques diseñados </a:t>
            </a:r>
            <a:r>
              <a:rPr lang="es-MX" sz="1200" dirty="0" err="1"/>
              <a:t>peviamente</a:t>
            </a:r>
            <a:r>
              <a:rPr lang="es-MX" sz="1200" dirty="0"/>
              <a:t>, se implementó el integrador.</a:t>
            </a:r>
            <a:endParaRPr lang="es-MX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95BF7E-79DE-607F-86C6-4B89EFD07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670" y="1730041"/>
            <a:ext cx="3770034" cy="327603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663A4EE-2AF0-7B77-FEA4-BC8BA4128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7" y="2130252"/>
            <a:ext cx="4572000" cy="21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619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>
            <a:spLocks noGrp="1"/>
          </p:cNvSpPr>
          <p:nvPr>
            <p:ph type="title"/>
          </p:nvPr>
        </p:nvSpPr>
        <p:spPr>
          <a:xfrm>
            <a:off x="202275" y="157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3333"/>
              <a:buNone/>
            </a:pPr>
            <a:r>
              <a:rPr lang="es-419" sz="3000" b="1"/>
              <a:t>Gracias</a:t>
            </a:r>
            <a:endParaRPr sz="3000" b="1"/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4000" y="1307826"/>
            <a:ext cx="3077150" cy="20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419"/>
              <a:t>17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531</Words>
  <Application>Microsoft Office PowerPoint</Application>
  <PresentationFormat>Presentación en pantalla (16:9)</PresentationFormat>
  <Paragraphs>53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Cambria Math</vt:lpstr>
      <vt:lpstr>Courier New</vt:lpstr>
      <vt:lpstr>Times New Roman</vt:lpstr>
      <vt:lpstr>Simple Light</vt:lpstr>
      <vt:lpstr>Inversor &amp; oscilador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AsusTUF</dc:creator>
  <cp:lastModifiedBy>juan pablo</cp:lastModifiedBy>
  <cp:revision>10</cp:revision>
  <dcterms:modified xsi:type="dcterms:W3CDTF">2025-12-08T21:11:28Z</dcterms:modified>
</cp:coreProperties>
</file>